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00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73152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5200" b="1" dirty="0">
                <a:solidFill>
                  <a:schemeClr val="bg1"/>
                </a:solidFill>
              </a:rPr>
              <a:t>异</a:t>
            </a:r>
            <a:r>
              <a:rPr lang="en-US" altLang="zh-CN" sz="5200" b="1" dirty="0">
                <a:solidFill>
                  <a:schemeClr val="bg1"/>
                </a:solidFill>
              </a:rPr>
              <a:t> </a:t>
            </a:r>
            <a:r>
              <a:rPr lang="zh-CN" altLang="en-US" sz="5200" b="1" dirty="0">
                <a:solidFill>
                  <a:schemeClr val="bg1"/>
                </a:solidFill>
              </a:rPr>
              <a:t>次</a:t>
            </a:r>
            <a:r>
              <a:rPr lang="en-US" altLang="zh-CN" sz="5200" b="1" dirty="0">
                <a:solidFill>
                  <a:schemeClr val="bg1"/>
                </a:solidFill>
              </a:rPr>
              <a:t> </a:t>
            </a:r>
            <a:r>
              <a:rPr lang="zh-CN" altLang="en-US" sz="5200" b="1" dirty="0">
                <a:solidFill>
                  <a:schemeClr val="bg1"/>
                </a:solidFill>
              </a:rPr>
              <a:t>元</a:t>
            </a:r>
            <a:r>
              <a:rPr lang="en-US" altLang="zh-CN" sz="5200" b="1" dirty="0">
                <a:solidFill>
                  <a:schemeClr val="bg1"/>
                </a:solidFill>
              </a:rPr>
              <a:t> </a:t>
            </a:r>
            <a:r>
              <a:rPr lang="zh-CN" altLang="en-US" sz="5200" b="1" dirty="0">
                <a:solidFill>
                  <a:schemeClr val="bg1"/>
                </a:solidFill>
              </a:rPr>
              <a:t>梦</a:t>
            </a:r>
            <a:r>
              <a:rPr lang="en-US" altLang="zh-CN" sz="5200" b="1" dirty="0">
                <a:solidFill>
                  <a:schemeClr val="bg1"/>
                </a:solidFill>
              </a:rPr>
              <a:t> </a:t>
            </a:r>
            <a:r>
              <a:rPr lang="zh-CN" altLang="en-US" sz="5200" b="1" dirty="0">
                <a:solidFill>
                  <a:schemeClr val="bg1"/>
                </a:solidFill>
              </a:rPr>
              <a:t>想</a:t>
            </a:r>
            <a:r>
              <a:rPr lang="en-US" altLang="zh-CN" sz="5200" b="1" dirty="0">
                <a:solidFill>
                  <a:schemeClr val="bg1"/>
                </a:solidFill>
              </a:rPr>
              <a:t> </a:t>
            </a:r>
            <a:r>
              <a:rPr lang="zh-CN" altLang="en-US" sz="5200" b="1" dirty="0">
                <a:solidFill>
                  <a:schemeClr val="bg1"/>
                </a:solidFill>
              </a:rPr>
              <a:t>局</a:t>
            </a:r>
            <a:endParaRPr lang="zh-CN" altLang="en-US" sz="5200" b="1" dirty="0">
              <a:solidFill>
                <a:schemeClr val="bg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5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任务驱动的反诈沉浸式互动叙事模拟器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371600" y="333756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在虚拟的骗局中，学会在现实中保护自己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7A000D"/>
          </a:solidFill>
        </p:spPr>
      </p:sp>
      <p:sp>
        <p:nvSpPr>
          <p:cNvPr id="8" name="Text 5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腾讯黑客松参赛项目  |  反诈教育 × 沉浸式体验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990011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90011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作品简介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502920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</a:t>
            </a:r>
            <a:r>
              <a:rPr lang="zh-CN" altLang="en-US" sz="1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异次元梦想局</a:t>
            </a:r>
            <a:r>
              <a:rPr lang="en-US" sz="1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」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是一款</a:t>
            </a: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任务驱动的反诈沉浸式互动叙事模拟器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400" dirty="0"/>
          </a:p>
          <a:p>
            <a:pPr marL="0" indent="0">
              <a:lnSpc>
                <a:spcPct val="160000"/>
              </a:lnSpc>
              <a:buNone/>
            </a:pPr>
            <a:endParaRPr lang="en-US" sz="14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作品将电信网络诈骗的常见套路融入角色扮演游戏中，让用户以</a:t>
            </a:r>
            <a:endParaRPr lang="en-US" sz="14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卧底警察、记者、志愿者、普通网友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等不同身份，在与 AI 骗子的沉浸式对话中经历完整的</a:t>
            </a:r>
            <a:r>
              <a:rPr lang="en-US" sz="14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「希望 → 崩塌 → 废墟 → 回放 → 盾牌」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情感曲线，在"完成任务的同时不被骗"的过程中，自然习得识别和防范诈骗的能力。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852160" y="1051560"/>
            <a:ext cx="2926080" cy="594360"/>
          </a:xfrm>
          <a:prstGeom prst="rect">
            <a:avLst/>
          </a:prstGeom>
          <a:solidFill>
            <a:srgbClr val="FFFFFF"/>
          </a:solidFill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852160" y="1051560"/>
            <a:ext cx="54864" cy="594360"/>
          </a:xfrm>
          <a:prstGeom prst="rect">
            <a:avLst/>
          </a:prstGeom>
          <a:solidFill>
            <a:srgbClr val="990011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1430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37960" y="109728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90011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46万+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537960" y="1371600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2023年全国电诈案件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852160" y="1764792"/>
            <a:ext cx="2926080" cy="594360"/>
          </a:xfrm>
          <a:prstGeom prst="rect">
            <a:avLst/>
          </a:prstGeom>
          <a:solidFill>
            <a:srgbClr val="FFFFFF"/>
          </a:solidFill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52160" y="1764792"/>
            <a:ext cx="54864" cy="594360"/>
          </a:xfrm>
          <a:prstGeom prst="rect">
            <a:avLst/>
          </a:prstGeom>
          <a:solidFill>
            <a:srgbClr val="990011"/>
          </a:solidFill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856232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37960" y="1810512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90011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300亿+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537960" y="2084832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涉案金额（元）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852160" y="2478024"/>
            <a:ext cx="2926080" cy="594360"/>
          </a:xfrm>
          <a:prstGeom prst="rect">
            <a:avLst/>
          </a:prstGeom>
          <a:solidFill>
            <a:srgbClr val="FFFFFF"/>
          </a:solidFill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852160" y="2478024"/>
            <a:ext cx="54864" cy="594360"/>
          </a:xfrm>
          <a:prstGeom prst="rect">
            <a:avLst/>
          </a:prstGeom>
          <a:solidFill>
            <a:srgbClr val="990011"/>
          </a:solidFill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569464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37960" y="2523744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90011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6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6537960" y="2798064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可选角色身份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5852160" y="3191256"/>
            <a:ext cx="2926080" cy="594360"/>
          </a:xfrm>
          <a:prstGeom prst="rect">
            <a:avLst/>
          </a:prstGeom>
          <a:solidFill>
            <a:srgbClr val="FFFFFF"/>
          </a:solidFill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852160" y="3191256"/>
            <a:ext cx="54864" cy="594360"/>
          </a:xfrm>
          <a:prstGeom prst="rect">
            <a:avLst/>
          </a:prstGeom>
          <a:solidFill>
            <a:srgbClr val="990011"/>
          </a:solidFill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3282696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537960" y="3236976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90011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30+</a:t>
            </a:r>
            <a:endParaRPr lang="en-US" sz="2000" dirty="0"/>
          </a:p>
        </p:txBody>
      </p:sp>
      <p:sp>
        <p:nvSpPr>
          <p:cNvPr id="24" name="Text 18"/>
          <p:cNvSpPr/>
          <p:nvPr/>
        </p:nvSpPr>
        <p:spPr>
          <a:xfrm>
            <a:off x="6537960" y="3511296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可能结局走向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创作背景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06040" cy="3291840"/>
          </a:xfrm>
          <a:prstGeom prst="rect">
            <a:avLst/>
          </a:prstGeom>
          <a:solidFill>
            <a:srgbClr val="FFFFFF">
              <a:alpha val="90000"/>
            </a:srgbClr>
          </a:solidFill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4173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103120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8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社会痛点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85800" y="2606040"/>
            <a:ext cx="214884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电信网络诈骗已成为最严峻的社会问题之一。传统反诈宣传以说教、传单、警示视频为主，用户被动接受，记忆留存率低。</a:t>
            </a:r>
            <a:endParaRPr lang="en-US" sz="1100" dirty="0">
              <a:solidFill>
                <a:srgbClr val="FFC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291840" y="1188720"/>
            <a:ext cx="2606040" cy="3291840"/>
          </a:xfrm>
          <a:prstGeom prst="rect">
            <a:avLst/>
          </a:prstGeom>
          <a:solidFill>
            <a:srgbClr val="FFFFFF">
              <a:alpha val="90000"/>
            </a:srgbClr>
          </a:solidFill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41732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74720" y="2103120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8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设计理念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3520440" y="2606040"/>
            <a:ext cx="214884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从体验式学习出发，借鉴游戏化设计思维：与其告诉用户"不要转账"，不如让他们在模拟中亲历被骗，形成深刻的"免疫记忆"。</a:t>
            </a:r>
            <a:endParaRPr lang="en-US" sz="1100" dirty="0">
              <a:solidFill>
                <a:srgbClr val="FFC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6126480" y="1188720"/>
            <a:ext cx="2606040" cy="3291840"/>
          </a:xfrm>
          <a:prstGeom prst="rect">
            <a:avLst/>
          </a:prstGeom>
          <a:solidFill>
            <a:srgbClr val="FFFFFF">
              <a:alpha val="90000"/>
            </a:srgbClr>
          </a:solidFill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41732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09360" y="2103120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4A8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灵感来源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6355080" y="2606040"/>
            <a:ext cx="214884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真实诈骗案例剧本化改编（刷单返利、杀猪盘、冒充公检法）+ 社会心理学"说服"研究 + 互动叙事游戏设计理念。</a:t>
            </a:r>
            <a:endParaRPr lang="en-US" sz="1100" dirty="0">
              <a:solidFill>
                <a:srgbClr val="FFC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990011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90011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六大身份系统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玩家从 6 个身份中选择，每个身份拥有 4-6 个递进式任务，部分身份需解锁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06040" cy="1600200"/>
          </a:xfrm>
          <a:prstGeom prst="rect">
            <a:avLst/>
          </a:prstGeom>
          <a:solidFill>
            <a:srgbClr val="FFFFFF"/>
          </a:solidFill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2606040" cy="54864"/>
          </a:xfrm>
          <a:prstGeom prst="rect">
            <a:avLst/>
          </a:prstGeom>
          <a:solidFill>
            <a:srgbClr val="990011"/>
          </a:solidFill>
        </p:spPr>
      </p:sp>
      <p:sp>
        <p:nvSpPr>
          <p:cNvPr id="7" name="Text 5"/>
          <p:cNvSpPr/>
          <p:nvPr/>
        </p:nvSpPr>
        <p:spPr>
          <a:xfrm>
            <a:off x="640080" y="141732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90011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猎鹰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卧底警察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1783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打入诈骗团伙内部，收集证据配合收网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280160"/>
            <a:ext cx="2606040" cy="1600200"/>
          </a:xfrm>
          <a:prstGeom prst="rect">
            <a:avLst/>
          </a:prstGeom>
          <a:solidFill>
            <a:srgbClr val="FFFFFF"/>
          </a:solidFill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280160"/>
            <a:ext cx="2606040" cy="54864"/>
          </a:xfrm>
          <a:prstGeom prst="rect">
            <a:avLst/>
          </a:prstGeom>
          <a:solidFill>
            <a:srgbClr val="C44B4B"/>
          </a:solidFill>
        </p:spPr>
      </p:sp>
      <p:sp>
        <p:nvSpPr>
          <p:cNvPr id="13" name="Text 11"/>
          <p:cNvSpPr/>
          <p:nvPr/>
        </p:nvSpPr>
        <p:spPr>
          <a:xfrm>
            <a:off x="3474720" y="141732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44B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笔锋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74720" y="178308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记者调查员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1783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74720" y="219456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调查诈骗产业链，撰写深度报道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280160"/>
            <a:ext cx="2606040" cy="1600200"/>
          </a:xfrm>
          <a:prstGeom prst="rect">
            <a:avLst/>
          </a:prstGeom>
          <a:solidFill>
            <a:srgbClr val="FFFFFF"/>
          </a:solidFill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280160"/>
            <a:ext cx="2606040" cy="54864"/>
          </a:xfrm>
          <a:prstGeom prst="rect">
            <a:avLst/>
          </a:prstGeom>
          <a:solidFill>
            <a:srgbClr val="D4A84B"/>
          </a:solidFill>
        </p:spPr>
      </p:sp>
      <p:sp>
        <p:nvSpPr>
          <p:cNvPr id="19" name="Text 17"/>
          <p:cNvSpPr/>
          <p:nvPr/>
        </p:nvSpPr>
        <p:spPr>
          <a:xfrm>
            <a:off x="6309360" y="141732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A8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灯塔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09360" y="178308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反诈志愿者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98080" y="17830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★★★☆☆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09360" y="219456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在骗局中及时提醒正在被骗的人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108960"/>
            <a:ext cx="2606040" cy="1600200"/>
          </a:xfrm>
          <a:prstGeom prst="rect">
            <a:avLst/>
          </a:prstGeom>
          <a:solidFill>
            <a:srgbClr val="FFFFFF"/>
          </a:solidFill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108960"/>
            <a:ext cx="2606040" cy="54864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25" name="Text 23"/>
          <p:cNvSpPr/>
          <p:nvPr/>
        </p:nvSpPr>
        <p:spPr>
          <a:xfrm>
            <a:off x="640080" y="324612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浮萍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40080" y="361188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普通网友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828800" y="36118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★★☆☆☆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402336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偶遇骗子，识别骗术，全身而退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91840" y="3108960"/>
            <a:ext cx="2606040" cy="1600200"/>
          </a:xfrm>
          <a:prstGeom prst="rect">
            <a:avLst/>
          </a:prstGeom>
          <a:solidFill>
            <a:srgbClr val="FFFFFF"/>
          </a:solidFill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91840" y="3108960"/>
            <a:ext cx="2606040" cy="54864"/>
          </a:xfrm>
          <a:prstGeom prst="rect">
            <a:avLst/>
          </a:prstGeom>
          <a:solidFill>
            <a:srgbClr val="C44B4B"/>
          </a:solidFill>
        </p:spPr>
      </p:sp>
      <p:sp>
        <p:nvSpPr>
          <p:cNvPr id="31" name="Text 29"/>
          <p:cNvSpPr/>
          <p:nvPr/>
        </p:nvSpPr>
        <p:spPr>
          <a:xfrm>
            <a:off x="3474720" y="324612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44B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寻人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474720" y="361188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受害者朋友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63440" y="36118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474720" y="402336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寻找失联好友，假装汇款获取线索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26480" y="3108960"/>
            <a:ext cx="2606040" cy="1600200"/>
          </a:xfrm>
          <a:prstGeom prst="rect">
            <a:avLst/>
          </a:prstGeom>
          <a:solidFill>
            <a:srgbClr val="FFFFFF"/>
          </a:solidFill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26480" y="3108960"/>
            <a:ext cx="2606040" cy="54864"/>
          </a:xfrm>
          <a:prstGeom prst="rect">
            <a:avLst/>
          </a:prstGeom>
          <a:solidFill>
            <a:srgbClr val="990011"/>
          </a:solidFill>
        </p:spPr>
      </p:sp>
      <p:sp>
        <p:nvSpPr>
          <p:cNvPr id="37" name="Text 35"/>
          <p:cNvSpPr/>
          <p:nvPr/>
        </p:nvSpPr>
        <p:spPr>
          <a:xfrm>
            <a:off x="6309360" y="324612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90011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鼹鼠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309360" y="361188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内部线人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498080" y="36118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09360" y="4023360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潜伏诈骗窝点，为警方提供情报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90011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五幕叙事结构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借鉴经典戏剧结构，完整情感曲线 — 色彩随幕变化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640080" cy="640080"/>
          </a:xfrm>
          <a:prstGeom prst="ellipse">
            <a:avLst/>
          </a:prstGeom>
          <a:solidFill>
            <a:srgbClr val="FF6B35"/>
          </a:solidFill>
        </p:spPr>
      </p:sp>
      <p:sp>
        <p:nvSpPr>
          <p:cNvPr id="5" name="Text 3"/>
          <p:cNvSpPr/>
          <p:nvPr/>
        </p:nvSpPr>
        <p:spPr>
          <a:xfrm>
            <a:off x="731520" y="12801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第一幕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463040" y="1600200"/>
            <a:ext cx="457200" cy="0"/>
          </a:xfrm>
          <a:prstGeom prst="line">
            <a:avLst/>
          </a:prstGeom>
          <a:noFill/>
          <a:ln w="19050">
            <a:solidFill>
              <a:srgbClr val="D1D5D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65760" y="210312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B35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希望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246888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暖橙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834640"/>
            <a:ext cx="155448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与骗子日常对话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建立信任，渐入陷阱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4434840"/>
            <a:ext cx="1097280" cy="274320"/>
          </a:xfrm>
          <a:prstGeom prst="rect">
            <a:avLst/>
          </a:prstGeom>
          <a:solidFill>
            <a:srgbClr val="FF6B35">
              <a:alpha val="15000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594360" y="44348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信任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87168" y="1280160"/>
            <a:ext cx="640080" cy="640080"/>
          </a:xfrm>
          <a:prstGeom prst="ellipse">
            <a:avLst/>
          </a:prstGeom>
          <a:solidFill>
            <a:srgbClr val="9AA0B5"/>
          </a:solidFill>
        </p:spPr>
      </p:sp>
      <p:sp>
        <p:nvSpPr>
          <p:cNvPr id="13" name="Text 11"/>
          <p:cNvSpPr/>
          <p:nvPr/>
        </p:nvSpPr>
        <p:spPr>
          <a:xfrm>
            <a:off x="2487168" y="12801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第二幕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18688" y="1600200"/>
            <a:ext cx="457200" cy="0"/>
          </a:xfrm>
          <a:prstGeom prst="line">
            <a:avLst/>
          </a:prstGeom>
          <a:noFill/>
          <a:ln w="19050">
            <a:solidFill>
              <a:srgbClr val="D1D5DB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2121408" y="210312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AA0B5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崩塌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121408" y="246888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冷灰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21408" y="2834640"/>
            <a:ext cx="155448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转账成功→好友消失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财务打击→社交瓦解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心理独白→真实案例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50008" y="4434840"/>
            <a:ext cx="1097280" cy="274320"/>
          </a:xfrm>
          <a:prstGeom prst="rect">
            <a:avLst/>
          </a:prstGeom>
          <a:solidFill>
            <a:srgbClr val="9AA0B5">
              <a:alpha val="15000"/>
            </a:srgbClr>
          </a:solidFill>
        </p:spPr>
      </p:sp>
      <p:sp>
        <p:nvSpPr>
          <p:cNvPr id="19" name="Text 17"/>
          <p:cNvSpPr/>
          <p:nvPr/>
        </p:nvSpPr>
        <p:spPr>
          <a:xfrm>
            <a:off x="2350008" y="44348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觉醒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42816" y="1280160"/>
            <a:ext cx="640080" cy="640080"/>
          </a:xfrm>
          <a:prstGeom prst="ellipse">
            <a:avLst/>
          </a:prstGeom>
          <a:solidFill>
            <a:srgbClr val="DC143C"/>
          </a:solidFill>
        </p:spPr>
      </p:sp>
      <p:sp>
        <p:nvSpPr>
          <p:cNvPr id="21" name="Text 19"/>
          <p:cNvSpPr/>
          <p:nvPr/>
        </p:nvSpPr>
        <p:spPr>
          <a:xfrm>
            <a:off x="4242816" y="12801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第三幕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74336" y="1600200"/>
            <a:ext cx="457200" cy="0"/>
          </a:xfrm>
          <a:prstGeom prst="line">
            <a:avLst/>
          </a:prstGeom>
          <a:noFill/>
          <a:ln w="19050">
            <a:solidFill>
              <a:srgbClr val="D1D5DB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3877056" y="210312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143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废墟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877056" y="246888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暗红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77056" y="2834640"/>
            <a:ext cx="155448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四个行动按钮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报警 / 止损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心理支持 / 告诉家人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05656" y="4434840"/>
            <a:ext cx="1097280" cy="274320"/>
          </a:xfrm>
          <a:prstGeom prst="rect">
            <a:avLst/>
          </a:prstGeom>
          <a:solidFill>
            <a:srgbClr val="DC143C">
              <a:alpha val="15000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4105656" y="44348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998464" y="1280160"/>
            <a:ext cx="640080" cy="640080"/>
          </a:xfrm>
          <a:prstGeom prst="ellipse">
            <a:avLst/>
          </a:prstGeom>
          <a:solidFill>
            <a:srgbClr val="666666"/>
          </a:solidFill>
        </p:spPr>
      </p:sp>
      <p:sp>
        <p:nvSpPr>
          <p:cNvPr id="29" name="Text 27"/>
          <p:cNvSpPr/>
          <p:nvPr/>
        </p:nvSpPr>
        <p:spPr>
          <a:xfrm>
            <a:off x="5998464" y="12801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第四幕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729984" y="1600200"/>
            <a:ext cx="457200" cy="0"/>
          </a:xfrm>
          <a:prstGeom prst="line">
            <a:avLst/>
          </a:prstGeom>
          <a:noFill/>
          <a:ln w="19050">
            <a:solidFill>
              <a:srgbClr val="D1D5DB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5632704" y="210312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6666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回放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632704" y="246888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中性白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32704" y="2834640"/>
            <a:ext cx="155448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时间线回放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心理学标注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平行宇宙模拟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861304" y="4434840"/>
            <a:ext cx="1097280" cy="274320"/>
          </a:xfrm>
          <a:prstGeom prst="rect">
            <a:avLst/>
          </a:prstGeom>
          <a:solidFill>
            <a:srgbClr val="666666">
              <a:alpha val="15000"/>
            </a:srgbClr>
          </a:solidFill>
        </p:spPr>
      </p:sp>
      <p:sp>
        <p:nvSpPr>
          <p:cNvPr id="35" name="Text 33"/>
          <p:cNvSpPr/>
          <p:nvPr/>
        </p:nvSpPr>
        <p:spPr>
          <a:xfrm>
            <a:off x="5861304" y="44348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反思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754112" y="1280160"/>
            <a:ext cx="640080" cy="640080"/>
          </a:xfrm>
          <a:prstGeom prst="ellipse">
            <a:avLst/>
          </a:prstGeom>
          <a:solidFill>
            <a:srgbClr val="1E90FF"/>
          </a:solidFill>
        </p:spPr>
      </p:sp>
      <p:sp>
        <p:nvSpPr>
          <p:cNvPr id="37" name="Text 35"/>
          <p:cNvSpPr/>
          <p:nvPr/>
        </p:nvSpPr>
        <p:spPr>
          <a:xfrm>
            <a:off x="7754112" y="12801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第五幕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388352" y="210312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90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盾牌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388352" y="246888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科技蓝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388352" y="2834640"/>
            <a:ext cx="155448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评分报告 + 类型分析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防骗工具箱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20个防诈关键词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616952" y="4434840"/>
            <a:ext cx="1097280" cy="274320"/>
          </a:xfrm>
          <a:prstGeom prst="rect">
            <a:avLst/>
          </a:prstGeom>
          <a:solidFill>
            <a:srgbClr val="1E90FF">
              <a:alpha val="15000"/>
            </a:srgbClr>
          </a:solidFill>
        </p:spPr>
      </p:sp>
      <p:sp>
        <p:nvSpPr>
          <p:cNvPr id="42" name="Text 40"/>
          <p:cNvSpPr/>
          <p:nvPr/>
        </p:nvSpPr>
        <p:spPr>
          <a:xfrm>
            <a:off x="7616952" y="44348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防护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990011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90011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核心玩法机制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77640" cy="1143000"/>
          </a:xfrm>
          <a:prstGeom prst="rect">
            <a:avLst/>
          </a:prstGeom>
          <a:solidFill>
            <a:srgbClr val="FFFFFF"/>
          </a:solidFill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972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02412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多角色 AI 交互网络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34440" y="13716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张浩、老K、小雅、匿名X等角色动态切换，消息列表支持未读红点提示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09160" y="914400"/>
            <a:ext cx="3977640" cy="1143000"/>
          </a:xfrm>
          <a:prstGeom prst="rect">
            <a:avLst/>
          </a:prstGeom>
          <a:solidFill>
            <a:srgbClr val="FFFFFF"/>
          </a:solidFill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9728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0" y="102412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分支对话 × 确定性结局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486400" y="13716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每条身份线 25-35 轮分支对话，2-8 个结局，基于 route + 信任值 + 证据数判定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2240280"/>
            <a:ext cx="3977640" cy="1143000"/>
          </a:xfrm>
          <a:prstGeom prst="rect">
            <a:avLst/>
          </a:prstGeom>
          <a:solidFill>
            <a:srgbClr val="FFFFFF"/>
          </a:solidFill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2316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235000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骗子"反卧底"AI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234440" y="269748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检测敏感关键词 + 过度追问 + 过度配合，怀疑度达阈值触发暴露结局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09160" y="2240280"/>
            <a:ext cx="3977640" cy="1143000"/>
          </a:xfrm>
          <a:prstGeom prst="rect">
            <a:avLst/>
          </a:prstGeom>
          <a:solidFill>
            <a:srgbClr val="FFFFFF"/>
          </a:solidFill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42316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86400" y="235000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多维数值系统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5486400" y="269748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信任值(0-100) · 骗子怀疑度(0-100+) · 信息暴露度(0-4) · 证据数(0-5) · 救援进度(0-3)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566160"/>
            <a:ext cx="3977640" cy="1143000"/>
          </a:xfrm>
          <a:prstGeom prst="rect">
            <a:avLst/>
          </a:prstGeom>
          <a:solidFill>
            <a:srgbClr val="FFFFFF"/>
          </a:solidFill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74904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34440" y="367588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平行宇宙复盘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1234440" y="402336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时间线回放 + 心理学标注 + "如果当时……"输入框模拟替代走向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709160" y="3566160"/>
            <a:ext cx="3977640" cy="1143000"/>
          </a:xfrm>
          <a:prstGeom prst="rect">
            <a:avLst/>
          </a:prstGeom>
          <a:solidFill>
            <a:srgbClr val="FFFFFF"/>
          </a:solidFill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749040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486400" y="367588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个性化盾牌报告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5486400" y="402336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综合评分 · 易受骗类型分析 · 星级评价 · 八大利器工具箱 · 20个防诈关键词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七大作品亮点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20040" y="1005840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8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3716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教育范式创新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" y="1691640"/>
            <a:ext cx="1920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从"说教"到"体验"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亲身经历形成情境记忆与免疫反应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14600" y="1005840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8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514600" y="13716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五幕情感叙事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14600" y="1691640"/>
            <a:ext cx="1920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希望→崩塌→废墟→回放→盾牌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色彩随幕变化，沉浸式学习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09160" y="1005840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8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709160" y="13716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高重玩价值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1691640"/>
            <a:ext cx="1920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6身份 × 30+结局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身份解锁系统激励反复探索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03720" y="1005840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8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903720" y="13716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智能反卧底AI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03720" y="1691640"/>
            <a:ext cx="1920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骗子具备反侦察能力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检测措辞、提问模式、配合程度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2880360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8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05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20040" y="324612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心理学复盘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0040" y="3566160"/>
            <a:ext cx="1920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时间线回放 + 心理学术语标注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知其然更知其所以然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14600" y="2880360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8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06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2514600" y="324612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零门槛使用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514600" y="3566160"/>
            <a:ext cx="1920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纯前端Web应用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无需下载安装，即开即用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9160" y="2880360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84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07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709160" y="324612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完善风险管控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09160" y="3566160"/>
            <a:ext cx="1920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15个风险点系统管控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全程不索取真实个人信息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566160"/>
            <a:ext cx="8503920" cy="36576"/>
          </a:xfrm>
          <a:prstGeom prst="rect">
            <a:avLst/>
          </a:prstGeom>
          <a:solidFill>
            <a:srgbClr val="D4A84B">
              <a:alpha val="50000"/>
            </a:srgbClr>
          </a:solid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990011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90011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技术架构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846320" cy="1143000"/>
          </a:xfrm>
          <a:prstGeom prst="rect">
            <a:avLst/>
          </a:prstGeom>
          <a:solidFill>
            <a:srgbClr val="FFFFFF"/>
          </a:solidFill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887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097280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纯前端技术栈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80160" y="1417320"/>
            <a:ext cx="3749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CSS3 + Vanilla JS (ES6+)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无框架、无构建步骤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数据层(47KB)与逻辑层(28KB)分离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2331720"/>
            <a:ext cx="4846320" cy="1143000"/>
          </a:xfrm>
          <a:prstGeom prst="rect">
            <a:avLst/>
          </a:prstGeom>
          <a:solidFill>
            <a:srgbClr val="FFFFFF"/>
          </a:solidFill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1460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423160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数据安全设计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280160" y="2743200"/>
            <a:ext cx="3749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全程不索取真实个人信息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仅存身份解锁进度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隐私优先的产品设计理念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57200" y="3657600"/>
            <a:ext cx="4846320" cy="1143000"/>
          </a:xfrm>
          <a:prstGeom prst="rect">
            <a:avLst/>
          </a:prstGeom>
          <a:solidFill>
            <a:srgbClr val="FFFFFF"/>
          </a:solidFill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84048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749040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CloudBase 部署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280160" y="4069080"/>
            <a:ext cx="3749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腾讯云 CloudBase 静态托管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后端预留混元大模型接入能力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预设话术树兜底，无需后端即可运行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5669280" y="100584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90011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版本迭代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5669280" y="1508760"/>
            <a:ext cx="3017520" cy="7772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Text 13"/>
          <p:cNvSpPr/>
          <p:nvPr/>
        </p:nvSpPr>
        <p:spPr>
          <a:xfrm>
            <a:off x="5852160" y="1581912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90011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V5.0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852160" y="18288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角色选择 + 话术树 + 基础工具箱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11条诈骗线路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5669280" y="2423160"/>
            <a:ext cx="3017520" cy="7772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" name="Text 16"/>
          <p:cNvSpPr/>
          <p:nvPr/>
        </p:nvSpPr>
        <p:spPr>
          <a:xfrm>
            <a:off x="5852160" y="2496312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90011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V7.0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5852160" y="274320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任务驱动架构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（旧版备份）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5669280" y="3246120"/>
            <a:ext cx="3017520" cy="1280160"/>
          </a:xfrm>
          <a:prstGeom prst="rect">
            <a:avLst/>
          </a:prstGeom>
          <a:solidFill>
            <a:srgbClr val="990011"/>
          </a:solidFill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5852160" y="3319272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V8.0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5852160" y="3566160"/>
            <a:ext cx="26517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5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完整五幕结构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5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25-35轮分支对话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5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确定性结局判定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5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身份解锁系统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5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反卧底AI + 平行宇宙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5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当前线上版本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90011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应用场景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20240" cy="3474720"/>
          </a:xfrm>
          <a:prstGeom prst="rect">
            <a:avLst/>
          </a:prstGeom>
          <a:solidFill>
            <a:srgbClr val="F5F0EC"/>
          </a:solidFill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371600"/>
            <a:ext cx="914400" cy="914400"/>
          </a:xfrm>
          <a:prstGeom prst="ellipse">
            <a:avLst/>
          </a:prstGeom>
          <a:solidFill>
            <a:srgbClr val="990011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1527048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468880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社区/校园</a:t>
            </a:r>
            <a:endParaRPr lang="en-US" sz="15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反诈宣传教育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94360" y="3246120"/>
            <a:ext cx="164592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替代传统传单和讲座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让学生在沉浸式体验中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自然习得防骗能力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606040" y="1097280"/>
            <a:ext cx="1920240" cy="3474720"/>
          </a:xfrm>
          <a:prstGeom prst="rect">
            <a:avLst/>
          </a:prstGeom>
          <a:solidFill>
            <a:srgbClr val="F5F0EC"/>
          </a:solidFill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108960" y="1371600"/>
            <a:ext cx="914400" cy="914400"/>
          </a:xfrm>
          <a:prstGeom prst="ellipse">
            <a:avLst/>
          </a:prstGeom>
          <a:solidFill>
            <a:srgbClr val="990011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1527048"/>
            <a:ext cx="594360" cy="594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43200" y="2468880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企业员工</a:t>
            </a:r>
            <a:endParaRPr lang="en-US" sz="15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安全意识培训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2743200" y="3246120"/>
            <a:ext cx="164592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网络安全培训的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创新辅助工具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提升员工识别社会工程攻击能力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754880" y="1097280"/>
            <a:ext cx="1920240" cy="3474720"/>
          </a:xfrm>
          <a:prstGeom prst="rect">
            <a:avLst/>
          </a:prstGeom>
          <a:solidFill>
            <a:srgbClr val="F5F0EC"/>
          </a:solidFill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257800" y="1371600"/>
            <a:ext cx="914400" cy="914400"/>
          </a:xfrm>
          <a:prstGeom prst="ellipse">
            <a:avLst/>
          </a:prstGeom>
          <a:solidFill>
            <a:srgbClr val="990011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1527048"/>
            <a:ext cx="594360" cy="5943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92040" y="2468880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公安/银行</a:t>
            </a:r>
            <a:endParaRPr lang="en-US" sz="15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反诈宣传辅助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892040" y="3246120"/>
            <a:ext cx="164592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反诈中心、银行网点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公众教育场景的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互动体验工具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903720" y="1097280"/>
            <a:ext cx="1920240" cy="3474720"/>
          </a:xfrm>
          <a:prstGeom prst="rect">
            <a:avLst/>
          </a:prstGeom>
          <a:solidFill>
            <a:srgbClr val="F5F0EC"/>
          </a:solidFill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406640" y="1371600"/>
            <a:ext cx="914400" cy="914400"/>
          </a:xfrm>
          <a:prstGeom prst="ellipse">
            <a:avLst/>
          </a:prstGeom>
          <a:solidFill>
            <a:srgbClr val="990011"/>
          </a:solidFill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1527048"/>
            <a:ext cx="594360" cy="5943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040880" y="2468880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公众</a:t>
            </a:r>
            <a:endParaRPr lang="en-US" sz="15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防骗意识提升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7040880" y="3246120"/>
            <a:ext cx="164592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面向全民的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防骗素养教育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在游戏中建立免疫记忆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00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B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54864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4800" dirty="0">
                <a:solidFill>
                  <a:schemeClr val="bg1"/>
                </a:solidFill>
              </a:rPr>
              <a:t>异</a:t>
            </a:r>
            <a:r>
              <a:rPr lang="en-US" altLang="zh-CN" sz="4800" dirty="0">
                <a:solidFill>
                  <a:schemeClr val="bg1"/>
                </a:solidFill>
              </a:rPr>
              <a:t> </a:t>
            </a:r>
            <a:r>
              <a:rPr lang="zh-CN" altLang="en-US" sz="4800" dirty="0">
                <a:solidFill>
                  <a:schemeClr val="bg1"/>
                </a:solidFill>
              </a:rPr>
              <a:t>次</a:t>
            </a:r>
            <a:r>
              <a:rPr lang="en-US" altLang="zh-CN" sz="4800" dirty="0">
                <a:solidFill>
                  <a:schemeClr val="bg1"/>
                </a:solidFill>
              </a:rPr>
              <a:t> </a:t>
            </a:r>
            <a:r>
              <a:rPr lang="zh-CN" altLang="en-US" sz="4800" dirty="0">
                <a:solidFill>
                  <a:schemeClr val="bg1"/>
                </a:solidFill>
              </a:rPr>
              <a:t>元</a:t>
            </a:r>
            <a:r>
              <a:rPr lang="en-US" altLang="zh-CN" sz="4800" dirty="0">
                <a:solidFill>
                  <a:schemeClr val="bg1"/>
                </a:solidFill>
              </a:rPr>
              <a:t> </a:t>
            </a:r>
            <a:r>
              <a:rPr lang="zh-CN" altLang="en-US" sz="4800" dirty="0">
                <a:solidFill>
                  <a:schemeClr val="bg1"/>
                </a:solidFill>
              </a:rPr>
              <a:t>梦</a:t>
            </a:r>
            <a:r>
              <a:rPr lang="en-US" altLang="zh-CN" sz="4800" dirty="0">
                <a:solidFill>
                  <a:schemeClr val="bg1"/>
                </a:solidFill>
              </a:rPr>
              <a:t> </a:t>
            </a:r>
            <a:r>
              <a:rPr lang="zh-CN" altLang="en-US" sz="4800" dirty="0">
                <a:solidFill>
                  <a:schemeClr val="bg1"/>
                </a:solidFill>
              </a:rPr>
              <a:t>想</a:t>
            </a:r>
            <a:r>
              <a:rPr lang="en-US" altLang="zh-CN" sz="4800" dirty="0">
                <a:solidFill>
                  <a:schemeClr val="bg1"/>
                </a:solidFill>
              </a:rPr>
              <a:t> </a:t>
            </a:r>
            <a:r>
              <a:rPr lang="zh-CN" altLang="en-US" sz="4800" dirty="0">
                <a:solidFill>
                  <a:schemeClr val="bg1"/>
                </a:solidFill>
              </a:rPr>
              <a:t>局</a:t>
            </a:r>
            <a:endParaRPr lang="zh-CN" altLang="en-US" sz="4800" dirty="0">
              <a:solidFill>
                <a:schemeClr val="bg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5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不只是玩游戏，而是在虚拟的骗局中，学会在现实中保护自己。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0" y="4069080"/>
            <a:ext cx="9144000" cy="54864"/>
          </a:xfrm>
          <a:prstGeom prst="rect">
            <a:avLst/>
          </a:prstGeom>
          <a:solidFill>
            <a:srgbClr val="D4A84B"/>
          </a:solidFill>
        </p:spPr>
      </p:sp>
      <p:sp>
        <p:nvSpPr>
          <p:cNvPr id="7" name="Text 4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线上体验地址：</a:t>
            </a:r>
            <a:r>
              <a:rPr lang="en-US" sz="1100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ai-d9gd4xji5de241243-1453144747.tcloudbaseapp.com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腾讯黑客松参赛项目  |  Thank You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1915</Words>
  <Application>WPS 演示</Application>
  <PresentationFormat>On-screen Show (16:9)</PresentationFormat>
  <Paragraphs>316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8" baseType="lpstr">
      <vt:lpstr>Arial</vt:lpstr>
      <vt:lpstr>宋体</vt:lpstr>
      <vt:lpstr>Wingdings</vt:lpstr>
      <vt:lpstr>Georgia</vt:lpstr>
      <vt:lpstr>Georgia</vt:lpstr>
      <vt:lpstr>Georgia</vt:lpstr>
      <vt:lpstr>Calibri</vt:lpstr>
      <vt:lpstr>Helvetica Neue</vt:lpstr>
      <vt:lpstr>Calibri</vt:lpstr>
      <vt:lpstr>Calibri</vt:lpstr>
      <vt:lpstr>宋体</vt:lpstr>
      <vt:lpstr>汉仪书宋二KW</vt:lpstr>
      <vt:lpstr>微软雅黑</vt:lpstr>
      <vt:lpstr>汉仪旗黑</vt:lpstr>
      <vt:lpstr>Arial Unicode MS</vt:lpstr>
      <vt:lpstr>等线</vt:lpstr>
      <vt:lpstr>汉仪中等线KW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反诈人生 — 作品介绍</dc:title>
  <dc:creator>反诈人生团队</dc:creator>
  <dc:subject>PptxGenJS Presentation</dc:subject>
  <cp:lastModifiedBy>玄宇</cp:lastModifiedBy>
  <cp:revision>2</cp:revision>
  <dcterms:created xsi:type="dcterms:W3CDTF">2026-07-14T08:55:53Z</dcterms:created>
  <dcterms:modified xsi:type="dcterms:W3CDTF">2026-07-14T08:55:53Z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04683070331EA2DD99F9556ACCA61308_42</vt:lpwstr>
  </property>
  <property fmtid="{D5CDD505-2E9C-101B-9397-08002B2CF9AE}" pid="3" name="KSOProductBuildVer">
    <vt:lpwstr>2052-12.1.26026.26026</vt:lpwstr>
  </property>
</Properties>
</file>